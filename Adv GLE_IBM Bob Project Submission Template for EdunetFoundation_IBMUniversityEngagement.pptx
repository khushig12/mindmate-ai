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83" r:id="rId2"/>
    <p:sldId id="257" r:id="rId3"/>
    <p:sldId id="282" r:id="rId4"/>
    <p:sldId id="285" r:id="rId5"/>
    <p:sldId id="278" r:id="rId6"/>
    <p:sldId id="281" r:id="rId7"/>
    <p:sldId id="279" r:id="rId8"/>
    <p:sldId id="291" r:id="rId9"/>
    <p:sldId id="264" r:id="rId10"/>
    <p:sldId id="290" r:id="rId11"/>
    <p:sldId id="292" r:id="rId12"/>
    <p:sldId id="293" r:id="rId13"/>
    <p:sldId id="286" r:id="rId14"/>
    <p:sldId id="287" r:id="rId15"/>
    <p:sldId id="280" r:id="rId16"/>
    <p:sldId id="288" r:id="rId17"/>
    <p:sldId id="289"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7755F6-6161-45BA-8A63-7A022A3BB895}" v="1" dt="2026-07-14T05:04:53.45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1" d="100"/>
          <a:sy n="61" d="100"/>
        </p:scale>
        <p:origin x="8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88010032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sz="2400" dirty="0"/>
                        <a:t>Khushi Gupta</a:t>
                      </a:r>
                      <a:endParaRPr sz="2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000" dirty="0"/>
                        <a:t>khushigupta83670@gmail.com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2400" dirty="0"/>
                        <a:t>7060388522</a:t>
                      </a:r>
                      <a:endParaRPr sz="2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71235"/>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Healthcare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457371"/>
            <a:ext cx="10280254" cy="830997"/>
          </a:xfrm>
          <a:prstGeom prst="rect">
            <a:avLst/>
          </a:prstGeom>
          <a:noFill/>
        </p:spPr>
        <p:txBody>
          <a:bodyPr wrap="square" rtlCol="0">
            <a:spAutoFit/>
          </a:bodyPr>
          <a:lstStyle/>
          <a:p>
            <a:r>
              <a:rPr lang="en-US" sz="2400" b="1" dirty="0"/>
              <a:t>Project Tile – </a:t>
            </a:r>
            <a:r>
              <a:rPr lang="en-IN" sz="2400" b="1" kern="100" dirty="0">
                <a:effectLst/>
                <a:highlight>
                  <a:srgbClr val="FFFF00"/>
                </a:highlight>
                <a:latin typeface="Arial" panose="020B0604020202020204" pitchFamily="34" charset="0"/>
                <a:ea typeface="Calibri" panose="020F0502020204030204" pitchFamily="34" charset="0"/>
              </a:rPr>
              <a:t>Agentic AI for Mental Health Awareness &amp; Suicide Prevention</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1"/>
            <a:ext cx="10922245" cy="6116546"/>
          </a:xfrm>
          <a:prstGeom prst="rect">
            <a:avLst/>
          </a:prstGeom>
          <a:noFill/>
        </p:spPr>
        <p:txBody>
          <a:bodyPr wrap="square" rtlCol="0">
            <a:spAutoFit/>
          </a:bodyPr>
          <a:lstStyle/>
          <a:p>
            <a:pPr algn="just">
              <a:lnSpc>
                <a:spcPct val="115000"/>
              </a:lnSpc>
              <a:spcAft>
                <a:spcPts val="800"/>
              </a:spcAft>
            </a:pPr>
            <a:r>
              <a:rPr lang="en-IN" sz="1600" b="1" kern="100" dirty="0">
                <a:effectLst/>
                <a:latin typeface="+mn-lt"/>
                <a:ea typeface="Calibri" panose="020F0502020204030204" pitchFamily="34" charset="0"/>
                <a:cs typeface="Arial" panose="020B0604020202020204" pitchFamily="34" charset="0"/>
              </a:rPr>
              <a:t>The Challenge</a:t>
            </a:r>
            <a:endParaRPr lang="en-IN" sz="1600" kern="100" dirty="0">
              <a:effectLst/>
              <a:latin typeface="+mn-lt"/>
              <a:ea typeface="Aptos"/>
              <a:cs typeface="Arial" panose="020B0604020202020204" pitchFamily="34" charset="0"/>
            </a:endParaRPr>
          </a:p>
          <a:p>
            <a:pPr algn="just">
              <a:lnSpc>
                <a:spcPct val="115000"/>
              </a:lnSpc>
              <a:spcAft>
                <a:spcPts val="800"/>
              </a:spcAft>
            </a:pPr>
            <a:r>
              <a:rPr lang="en-IN" sz="1600" kern="100" dirty="0">
                <a:effectLst/>
                <a:latin typeface="+mn-lt"/>
                <a:ea typeface="Calibri" panose="020F0502020204030204" pitchFamily="34" charset="0"/>
                <a:cs typeface="Arial" panose="020B0604020202020204" pitchFamily="34" charset="0"/>
              </a:rPr>
              <a:t>Mental health issues such as depression, anxiety, and suicidal thoughts are growing worldwide. Stigma, lack of awareness, and limited access to timely help prevent many individuals from seeking support. Traditional systems are often reactive, leaving gaps in early detection and preventive care.</a:t>
            </a:r>
            <a:endParaRPr lang="en-IN" sz="1600" kern="100" dirty="0">
              <a:effectLst/>
              <a:latin typeface="+mn-lt"/>
              <a:ea typeface="Aptos"/>
              <a:cs typeface="Arial" panose="020B0604020202020204" pitchFamily="34" charset="0"/>
            </a:endParaRPr>
          </a:p>
          <a:p>
            <a:pPr algn="just">
              <a:lnSpc>
                <a:spcPct val="115000"/>
              </a:lnSpc>
              <a:spcAft>
                <a:spcPts val="800"/>
              </a:spcAft>
            </a:pPr>
            <a:r>
              <a:rPr lang="en-IN" sz="1600" b="1" kern="100" dirty="0">
                <a:effectLst/>
                <a:latin typeface="+mn-lt"/>
                <a:ea typeface="Calibri" panose="020F0502020204030204" pitchFamily="34" charset="0"/>
                <a:cs typeface="Arial" panose="020B0604020202020204" pitchFamily="34" charset="0"/>
              </a:rPr>
              <a:t>The Objective</a:t>
            </a:r>
            <a:endParaRPr lang="en-IN" sz="1600" kern="100" dirty="0">
              <a:effectLst/>
              <a:latin typeface="+mn-lt"/>
              <a:ea typeface="Aptos"/>
              <a:cs typeface="Arial" panose="020B0604020202020204" pitchFamily="34" charset="0"/>
            </a:endParaRPr>
          </a:p>
          <a:p>
            <a:pPr algn="just">
              <a:lnSpc>
                <a:spcPct val="115000"/>
              </a:lnSpc>
              <a:spcAft>
                <a:spcPts val="800"/>
              </a:spcAft>
            </a:pPr>
            <a:r>
              <a:rPr lang="en-IN" sz="1600" kern="100" dirty="0">
                <a:effectLst/>
                <a:latin typeface="+mn-lt"/>
                <a:ea typeface="Calibri" panose="020F0502020204030204" pitchFamily="34" charset="0"/>
                <a:cs typeface="Arial" panose="020B0604020202020204" pitchFamily="34" charset="0"/>
              </a:rPr>
              <a:t>Build an Agentic AI-powered Mental Health Awareness &amp; Suicide Prevention Agent that is empathetic, proactive, and safe. The solution should:</a:t>
            </a:r>
            <a:endParaRPr lang="en-IN" sz="1600" kern="100" dirty="0">
              <a:effectLst/>
              <a:latin typeface="+mn-lt"/>
              <a:ea typeface="Aptos"/>
              <a:cs typeface="Arial" panose="020B0604020202020204" pitchFamily="34" charset="0"/>
            </a:endParaRPr>
          </a:p>
          <a:p>
            <a:pPr marL="342900" lvl="0" indent="-342900" algn="just">
              <a:lnSpc>
                <a:spcPct val="115000"/>
              </a:lnSpc>
              <a:buFont typeface="+mj-lt"/>
              <a:buAutoNum type="arabicPeriod"/>
            </a:pPr>
            <a:r>
              <a:rPr lang="en-IN" sz="1600" b="1" kern="100" dirty="0">
                <a:effectLst/>
                <a:latin typeface="+mn-lt"/>
                <a:ea typeface="Aptos"/>
                <a:cs typeface="Arial" panose="020B0604020202020204" pitchFamily="34" charset="0"/>
              </a:rPr>
              <a:t>Promote Awareness &amp; Education </a:t>
            </a:r>
            <a:r>
              <a:rPr lang="en-IN" sz="1600" kern="100" dirty="0">
                <a:effectLst/>
                <a:latin typeface="+mn-lt"/>
                <a:ea typeface="Calibri" panose="020F0502020204030204" pitchFamily="34" charset="0"/>
                <a:cs typeface="Arial" panose="020B0604020202020204" pitchFamily="34" charset="0"/>
              </a:rPr>
              <a:t>– Share accessible resources on mindfulness, coping strategies, and self-care.</a:t>
            </a:r>
            <a:endParaRPr lang="en-IN" sz="1600" kern="100" dirty="0">
              <a:effectLst/>
              <a:latin typeface="+mn-lt"/>
              <a:ea typeface="Aptos"/>
              <a:cs typeface="Arial" panose="020B0604020202020204" pitchFamily="34" charset="0"/>
            </a:endParaRPr>
          </a:p>
          <a:p>
            <a:pPr marL="342900" lvl="0" indent="-342900" algn="just">
              <a:lnSpc>
                <a:spcPct val="115000"/>
              </a:lnSpc>
              <a:buFont typeface="+mj-lt"/>
              <a:buAutoNum type="arabicPeriod"/>
            </a:pPr>
            <a:r>
              <a:rPr lang="en-IN" sz="1600" b="1" kern="100" dirty="0">
                <a:effectLst/>
                <a:latin typeface="+mn-lt"/>
                <a:ea typeface="Aptos"/>
                <a:cs typeface="Arial" panose="020B0604020202020204" pitchFamily="34" charset="0"/>
              </a:rPr>
              <a:t>Enable Early Detection (RAG) </a:t>
            </a:r>
            <a:r>
              <a:rPr lang="en-IN" sz="1600" kern="100" dirty="0">
                <a:effectLst/>
                <a:latin typeface="+mn-lt"/>
                <a:ea typeface="Calibri" panose="020F0502020204030204" pitchFamily="34" charset="0"/>
                <a:cs typeface="Arial" panose="020B0604020202020204" pitchFamily="34" charset="0"/>
              </a:rPr>
              <a:t>– Use Retrieval-Augmented Generation to identify distress signals in conversations, journaling inputs, or safe online data.</a:t>
            </a:r>
            <a:endParaRPr lang="en-IN" sz="1600" kern="100" dirty="0">
              <a:effectLst/>
              <a:latin typeface="+mn-lt"/>
              <a:ea typeface="Aptos"/>
              <a:cs typeface="Arial" panose="020B0604020202020204" pitchFamily="34" charset="0"/>
            </a:endParaRPr>
          </a:p>
          <a:p>
            <a:pPr marL="342900" lvl="0" indent="-342900" algn="just">
              <a:lnSpc>
                <a:spcPct val="115000"/>
              </a:lnSpc>
              <a:buFont typeface="+mj-lt"/>
              <a:buAutoNum type="arabicPeriod"/>
            </a:pPr>
            <a:r>
              <a:rPr lang="en-IN" sz="1600" b="1" kern="100" dirty="0">
                <a:effectLst/>
                <a:latin typeface="+mn-lt"/>
                <a:ea typeface="Aptos"/>
                <a:cs typeface="Arial" panose="020B0604020202020204" pitchFamily="34" charset="0"/>
              </a:rPr>
              <a:t>Provide Empathetic Support – </a:t>
            </a:r>
            <a:r>
              <a:rPr lang="en-IN" sz="1600" kern="100" dirty="0">
                <a:effectLst/>
                <a:latin typeface="+mn-lt"/>
                <a:ea typeface="Calibri" panose="020F0502020204030204" pitchFamily="34" charset="0"/>
                <a:cs typeface="Arial" panose="020B0604020202020204" pitchFamily="34" charset="0"/>
              </a:rPr>
              <a:t>Build a conversational agent that listens actively and responds with empathy (with clear disclaimers: not a substitute for professional medical advice).</a:t>
            </a:r>
            <a:endParaRPr lang="en-IN" sz="1600" kern="100" dirty="0">
              <a:effectLst/>
              <a:latin typeface="+mn-lt"/>
              <a:ea typeface="Aptos"/>
              <a:cs typeface="Arial" panose="020B0604020202020204" pitchFamily="34" charset="0"/>
            </a:endParaRPr>
          </a:p>
          <a:p>
            <a:pPr marL="342900" lvl="0" indent="-342900" algn="just">
              <a:lnSpc>
                <a:spcPct val="115000"/>
              </a:lnSpc>
              <a:buFont typeface="+mj-lt"/>
              <a:buAutoNum type="arabicPeriod"/>
            </a:pPr>
            <a:r>
              <a:rPr lang="en-IN" sz="1600" b="1" kern="100" dirty="0">
                <a:effectLst/>
                <a:latin typeface="+mn-lt"/>
                <a:ea typeface="Aptos"/>
                <a:cs typeface="Arial" panose="020B0604020202020204" pitchFamily="34" charset="0"/>
              </a:rPr>
              <a:t>Predict &amp; Prevent Risks – </a:t>
            </a:r>
            <a:r>
              <a:rPr lang="en-IN" sz="1600" kern="100" dirty="0">
                <a:effectLst/>
                <a:latin typeface="+mn-lt"/>
                <a:ea typeface="Calibri" panose="020F0502020204030204" pitchFamily="34" charset="0"/>
                <a:cs typeface="Arial" panose="020B0604020202020204" pitchFamily="34" charset="0"/>
              </a:rPr>
              <a:t>Forecast stress peaks, suggest preventive strategies, and issue alerts when high-risk signals are detected (with consent).</a:t>
            </a:r>
            <a:endParaRPr lang="en-IN" sz="1600" kern="100" dirty="0">
              <a:effectLst/>
              <a:latin typeface="+mn-lt"/>
              <a:ea typeface="Aptos"/>
              <a:cs typeface="Arial" panose="020B0604020202020204" pitchFamily="34" charset="0"/>
            </a:endParaRPr>
          </a:p>
          <a:p>
            <a:pPr marL="342900" lvl="0" indent="-342900" algn="just">
              <a:lnSpc>
                <a:spcPct val="115000"/>
              </a:lnSpc>
              <a:spcAft>
                <a:spcPts val="800"/>
              </a:spcAft>
              <a:buFont typeface="+mj-lt"/>
              <a:buAutoNum type="arabicPeriod"/>
            </a:pPr>
            <a:r>
              <a:rPr lang="en-IN" sz="1600" b="1" kern="100" dirty="0">
                <a:effectLst/>
                <a:latin typeface="+mn-lt"/>
                <a:ea typeface="Aptos"/>
                <a:cs typeface="Arial" panose="020B0604020202020204" pitchFamily="34" charset="0"/>
              </a:rPr>
              <a:t>Connect to Human Support – </a:t>
            </a:r>
            <a:r>
              <a:rPr lang="en-IN" sz="1600" kern="100" dirty="0">
                <a:effectLst/>
                <a:latin typeface="+mn-lt"/>
                <a:ea typeface="Calibri" panose="020F0502020204030204" pitchFamily="34" charset="0"/>
                <a:cs typeface="Arial" panose="020B0604020202020204" pitchFamily="34" charset="0"/>
              </a:rPr>
              <a:t>Link users to helplines, </a:t>
            </a:r>
            <a:r>
              <a:rPr lang="en-IN" sz="1600" kern="100" dirty="0" err="1">
                <a:effectLst/>
                <a:latin typeface="+mn-lt"/>
                <a:ea typeface="Calibri" panose="020F0502020204030204" pitchFamily="34" charset="0"/>
                <a:cs typeface="Arial" panose="020B0604020202020204" pitchFamily="34" charset="0"/>
              </a:rPr>
              <a:t>counselors</a:t>
            </a:r>
            <a:r>
              <a:rPr lang="en-IN" sz="1600" kern="100" dirty="0">
                <a:effectLst/>
                <a:latin typeface="+mn-lt"/>
                <a:ea typeface="Calibri" panose="020F0502020204030204" pitchFamily="34" charset="0"/>
                <a:cs typeface="Arial" panose="020B0604020202020204" pitchFamily="34" charset="0"/>
              </a:rPr>
              <a:t>, or community support for timely intervention.</a:t>
            </a:r>
            <a:endParaRPr lang="en-IN" sz="1600" kern="100" dirty="0">
              <a:effectLst/>
              <a:latin typeface="+mn-lt"/>
              <a:ea typeface="Aptos"/>
              <a:cs typeface="Arial" panose="020B0604020202020204" pitchFamily="34" charset="0"/>
            </a:endParaRPr>
          </a:p>
          <a:p>
            <a:pPr algn="just">
              <a:lnSpc>
                <a:spcPct val="115000"/>
              </a:lnSpc>
              <a:spcAft>
                <a:spcPts val="800"/>
              </a:spcAft>
            </a:pPr>
            <a:r>
              <a:rPr lang="en-IN" sz="1600" b="1" kern="100" dirty="0">
                <a:effectLst/>
                <a:latin typeface="+mn-lt"/>
                <a:ea typeface="Aptos"/>
                <a:cs typeface="Arial" panose="020B0604020202020204" pitchFamily="34" charset="0"/>
              </a:rPr>
              <a:t>Tech Stack (Mandatory)</a:t>
            </a:r>
            <a:endParaRPr lang="en-IN" sz="1600" kern="100" dirty="0">
              <a:effectLst/>
              <a:latin typeface="+mn-lt"/>
              <a:ea typeface="Aptos"/>
              <a:cs typeface="Arial" panose="020B0604020202020204" pitchFamily="34" charset="0"/>
            </a:endParaRPr>
          </a:p>
          <a:p>
            <a:pPr marL="342900" lvl="0" indent="-342900" algn="just">
              <a:lnSpc>
                <a:spcPct val="115000"/>
              </a:lnSpc>
              <a:spcAft>
                <a:spcPts val="800"/>
              </a:spcAft>
              <a:buSzPts val="1000"/>
              <a:buFont typeface="Symbol" panose="05050102010706020507" pitchFamily="18" charset="2"/>
              <a:buChar char=""/>
              <a:tabLst>
                <a:tab pos="457200" algn="l"/>
              </a:tabLst>
            </a:pPr>
            <a:r>
              <a:rPr lang="en-IN" sz="1600" kern="100" dirty="0">
                <a:effectLst/>
                <a:latin typeface="+mn-lt"/>
                <a:ea typeface="Calibri" panose="020F0502020204030204" pitchFamily="34" charset="0"/>
                <a:cs typeface="Arial" panose="020B0604020202020204" pitchFamily="34" charset="0"/>
              </a:rPr>
              <a:t>IBM </a:t>
            </a:r>
            <a:r>
              <a:rPr lang="en-IN" sz="1600" kern="100" dirty="0" err="1">
                <a:effectLst/>
                <a:latin typeface="+mn-lt"/>
                <a:ea typeface="Calibri" panose="020F0502020204030204" pitchFamily="34" charset="0"/>
                <a:cs typeface="Arial" panose="020B0604020202020204" pitchFamily="34" charset="0"/>
              </a:rPr>
              <a:t>Langflow</a:t>
            </a:r>
            <a:r>
              <a:rPr lang="en-IN" sz="1600" kern="100" dirty="0">
                <a:effectLst/>
                <a:latin typeface="+mn-lt"/>
                <a:ea typeface="Calibri" panose="020F0502020204030204" pitchFamily="34" charset="0"/>
                <a:cs typeface="Arial" panose="020B0604020202020204" pitchFamily="34" charset="0"/>
              </a:rPr>
              <a:t> / IBM Orchestrate + IBM Models </a:t>
            </a:r>
            <a:endParaRPr lang="en-IN" sz="1600" kern="100" dirty="0">
              <a:effectLst/>
              <a:latin typeface="+mn-lt"/>
              <a:ea typeface="Aptos"/>
              <a:cs typeface="Arial" panose="020B0604020202020204" pitchFamily="34" charset="0"/>
            </a:endParaRPr>
          </a:p>
          <a:p>
            <a:pPr algn="just"/>
            <a:br>
              <a:rPr lang="en-IN" sz="1600" b="1" dirty="0">
                <a:effectLst/>
                <a:latin typeface="+mn-lt"/>
                <a:ea typeface="Calibri" panose="020F0502020204030204" pitchFamily="34" charset="0"/>
              </a:rPr>
            </a:br>
            <a:endParaRPr lang="en-IN" sz="1600" dirty="0">
              <a:latin typeface="+mn-lt"/>
            </a:endParaRP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003212"/>
            <a:ext cx="11090411" cy="5755422"/>
          </a:xfrm>
          <a:prstGeom prst="rect">
            <a:avLst/>
          </a:prstGeom>
          <a:noFill/>
        </p:spPr>
        <p:txBody>
          <a:bodyPr wrap="square" rtlCol="0">
            <a:spAutoFit/>
          </a:bodyPr>
          <a:lstStyle/>
          <a:p>
            <a:pPr algn="just"/>
            <a:r>
              <a:rPr lang="en-US" sz="1600" dirty="0"/>
              <a:t>The proposed solution is a </a:t>
            </a:r>
            <a:r>
              <a:rPr lang="en-US" sz="1600" b="1" dirty="0"/>
              <a:t>multi-agent AI-powered Mental Health Awareness &amp; Suicide Prevention platform</a:t>
            </a:r>
            <a:r>
              <a:rPr lang="en-US" sz="1600" dirty="0"/>
              <a:t> built using </a:t>
            </a:r>
            <a:r>
              <a:rPr lang="en-US" sz="1600" b="1" dirty="0"/>
              <a:t>IBM watsonx.ai, IBM Granite Models, IBM </a:t>
            </a:r>
            <a:r>
              <a:rPr lang="en-US" sz="1600" b="1" dirty="0" err="1"/>
              <a:t>Langflow</a:t>
            </a:r>
            <a:r>
              <a:rPr lang="en-US" sz="1600" b="1" dirty="0"/>
              <a:t>/IBM Orchestrate, Spring Boot, React.js, and MySQL</a:t>
            </a:r>
            <a:r>
              <a:rPr lang="en-US" sz="1600" dirty="0"/>
              <a:t>. The platform provides </a:t>
            </a:r>
            <a:r>
              <a:rPr lang="en-US" sz="1600" b="1" dirty="0"/>
              <a:t>personalized emotional support, mental health awareness, early risk detection, and proactive wellness recommendations</a:t>
            </a:r>
            <a:r>
              <a:rPr lang="en-US" sz="1600" dirty="0"/>
              <a:t> through an intelligent AI companion.</a:t>
            </a:r>
          </a:p>
          <a:p>
            <a:pPr algn="just"/>
            <a:r>
              <a:rPr lang="en-US" sz="1600" dirty="0"/>
              <a:t>At its core, the solution uses a </a:t>
            </a:r>
            <a:r>
              <a:rPr lang="en-US" sz="1600" b="1" dirty="0"/>
              <a:t>Retrieval-Augmented Generation (RAG)</a:t>
            </a:r>
            <a:r>
              <a:rPr lang="en-US" sz="1600" dirty="0"/>
              <a:t> architecture to retrieve accurate and trusted mental health information from verified resources. The retrieved knowledge is embedded into a vector database, allowing the AI to deliver </a:t>
            </a:r>
            <a:r>
              <a:rPr lang="en-US" sz="1600" b="1" dirty="0"/>
              <a:t>context-aware, personalized, and reliable responses</a:t>
            </a:r>
            <a:r>
              <a:rPr lang="en-US" sz="1600" dirty="0"/>
              <a:t> while maintaining conversational memory and user context.</a:t>
            </a:r>
          </a:p>
          <a:p>
            <a:pPr algn="just"/>
            <a:endParaRPr lang="en-US" sz="1600" dirty="0"/>
          </a:p>
          <a:p>
            <a:pPr algn="just"/>
            <a:r>
              <a:rPr lang="en-US" sz="1600" b="1" dirty="0"/>
              <a:t>Emotion Detection Agent</a:t>
            </a:r>
            <a:r>
              <a:rPr lang="en-US" sz="1600" dirty="0"/>
              <a:t> analyzes user conversations, mood logs, and journal entries to identify emotions such as stress, anxiety, sadness, or happiness using sentiment analysis.</a:t>
            </a:r>
          </a:p>
          <a:p>
            <a:pPr algn="just"/>
            <a:r>
              <a:rPr lang="en-US" sz="1600" b="1" dirty="0"/>
              <a:t>Personalized Recommendation Agent</a:t>
            </a:r>
            <a:r>
              <a:rPr lang="en-US" sz="1600" dirty="0"/>
              <a:t> generates customized wellness plans, including breathing exercises, meditation sessions, self-care activities, motivational content, and educational resources based on the user's emotional state.</a:t>
            </a:r>
          </a:p>
          <a:p>
            <a:pPr algn="just"/>
            <a:r>
              <a:rPr lang="en-US" sz="1600" b="1" dirty="0"/>
              <a:t>Wellness Tracking Agent</a:t>
            </a:r>
            <a:r>
              <a:rPr lang="en-US" sz="1600" dirty="0"/>
              <a:t> maintains mood history, daily journals, wellness scores, activity streaks, and personalized progress reports, enabling users to monitor their mental well-being over time through an interactive dashboard.</a:t>
            </a:r>
          </a:p>
          <a:p>
            <a:pPr algn="just"/>
            <a:r>
              <a:rPr lang="en-US" sz="1600" dirty="0"/>
              <a:t>The solution includes a </a:t>
            </a:r>
            <a:r>
              <a:rPr lang="en-US" sz="1600" b="1" dirty="0"/>
              <a:t>modern, user-friendly dashboard</a:t>
            </a:r>
            <a:r>
              <a:rPr lang="en-US" sz="1600" dirty="0"/>
              <a:t> built with </a:t>
            </a:r>
            <a:r>
              <a:rPr lang="en-US" sz="1600" b="1" dirty="0"/>
              <a:t>React.js</a:t>
            </a:r>
            <a:r>
              <a:rPr lang="en-US" sz="1600" dirty="0"/>
              <a:t> that enables users to record daily moods, maintain digital journals, interact with the AI companion, visualize mood trends, access mental health resources, and receive personalized recommendations in real time.</a:t>
            </a:r>
          </a:p>
          <a:p>
            <a:pPr algn="just"/>
            <a:r>
              <a:rPr lang="en-US" sz="1600" b="1" dirty="0"/>
              <a:t>Spring Boot</a:t>
            </a:r>
            <a:r>
              <a:rPr lang="en-US" sz="1600" dirty="0"/>
              <a:t> provides secure RESTful APIs with </a:t>
            </a:r>
            <a:r>
              <a:rPr lang="en-US" sz="1600" b="1" dirty="0"/>
              <a:t>JWT-based authentication</a:t>
            </a:r>
            <a:r>
              <a:rPr lang="en-US" sz="1600" dirty="0"/>
              <a:t>, while </a:t>
            </a:r>
            <a:r>
              <a:rPr lang="en-US" sz="1600" b="1" dirty="0"/>
              <a:t>MySQL</a:t>
            </a:r>
            <a:r>
              <a:rPr lang="en-US" sz="1600" dirty="0"/>
              <a:t> stores user profiles, chat history, mood records, journals, assessments, and wellness analytics. </a:t>
            </a:r>
            <a:r>
              <a:rPr lang="en-US" sz="1600" b="1" dirty="0"/>
              <a:t>IBM watsonx.ai</a:t>
            </a:r>
            <a:r>
              <a:rPr lang="en-US" sz="1600" dirty="0"/>
              <a:t> powers intelligent reasoning and natural language understanding, </a:t>
            </a:r>
            <a:r>
              <a:rPr lang="en-US" sz="1600" b="1" dirty="0"/>
              <a:t>Granite Models</a:t>
            </a:r>
            <a:r>
              <a:rPr lang="en-US" sz="1600" dirty="0"/>
              <a:t> generate empathetic responses and personalized recommendations, and </a:t>
            </a:r>
            <a:r>
              <a:rPr lang="en-US" sz="1600" b="1" dirty="0"/>
              <a:t>IBM </a:t>
            </a:r>
            <a:r>
              <a:rPr lang="en-US" sz="1600" b="1" dirty="0" err="1"/>
              <a:t>Langflow</a:t>
            </a:r>
            <a:r>
              <a:rPr lang="en-US" sz="1600" b="1" dirty="0"/>
              <a:t>/IBM Orchestrate</a:t>
            </a:r>
            <a:r>
              <a:rPr lang="en-US" sz="1600" dirty="0"/>
              <a:t> coordinates the complete multi-agent workflow and AI decision-making process.</a:t>
            </a:r>
          </a:p>
          <a:p>
            <a:pPr algn="just"/>
            <a:endParaRPr lang="en-IN" sz="16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451840"/>
            <a:ext cx="10039376" cy="461665"/>
          </a:xfrm>
          <a:prstGeom prst="rect">
            <a:avLst/>
          </a:prstGeom>
          <a:noFill/>
        </p:spPr>
        <p:txBody>
          <a:bodyPr wrap="square" rtlCol="0">
            <a:spAutoFit/>
          </a:bodyPr>
          <a:lstStyle/>
          <a:p>
            <a:r>
              <a:rPr lang="en-US" sz="2400" b="1" dirty="0"/>
              <a:t>Proposed Solution : AI-Powered Agentic Mental Health Companion</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946297"/>
            <a:ext cx="10515600" cy="5016758"/>
          </a:xfrm>
          <a:prstGeom prst="rect">
            <a:avLst/>
          </a:prstGeom>
          <a:noFill/>
        </p:spPr>
        <p:txBody>
          <a:bodyPr wrap="square" rtlCol="0">
            <a:spAutoFit/>
          </a:bodyPr>
          <a:lstStyle/>
          <a:p>
            <a:pPr algn="just">
              <a:buFont typeface="Arial" panose="020B0604020202020204" pitchFamily="34" charset="0"/>
              <a:buChar char="•"/>
            </a:pPr>
            <a:r>
              <a:rPr lang="en-IN" sz="1600" b="1" dirty="0">
                <a:latin typeface="+mn-lt"/>
              </a:rPr>
              <a:t>IBM </a:t>
            </a:r>
            <a:r>
              <a:rPr lang="en-IN" sz="1600" b="1" dirty="0" err="1">
                <a:latin typeface="+mn-lt"/>
              </a:rPr>
              <a:t>Langflow</a:t>
            </a:r>
            <a:r>
              <a:rPr lang="en-IN" sz="1600" b="1" dirty="0">
                <a:latin typeface="+mn-lt"/>
              </a:rPr>
              <a:t> / IBM Orchestrate</a:t>
            </a:r>
            <a:r>
              <a:rPr lang="en-IN" sz="1600" dirty="0">
                <a:latin typeface="+mn-lt"/>
              </a:rPr>
              <a:t> – Used to </a:t>
            </a:r>
            <a:r>
              <a:rPr lang="en-IN" sz="1600" b="1" dirty="0">
                <a:latin typeface="+mn-lt"/>
              </a:rPr>
              <a:t>design, manage, and orchestrate multi-agent AI workflows</a:t>
            </a:r>
            <a:r>
              <a:rPr lang="en-IN" sz="1600" dirty="0">
                <a:latin typeface="+mn-lt"/>
              </a:rPr>
              <a:t>, enabling seamless collaboration between Emotion Detection, Risk Assessment, Recommendation, and Emergency Support agents. </a:t>
            </a:r>
          </a:p>
          <a:p>
            <a:pPr algn="just">
              <a:buFont typeface="Arial" panose="020B0604020202020204" pitchFamily="34" charset="0"/>
              <a:buChar char="•"/>
            </a:pPr>
            <a:r>
              <a:rPr lang="en-IN" sz="1600" b="1" dirty="0">
                <a:latin typeface="+mn-lt"/>
              </a:rPr>
              <a:t>IBM Granite Models</a:t>
            </a:r>
            <a:r>
              <a:rPr lang="en-IN" sz="1600" dirty="0">
                <a:latin typeface="+mn-lt"/>
              </a:rPr>
              <a:t> </a:t>
            </a:r>
            <a:r>
              <a:rPr lang="en-IN" sz="1600" i="1" dirty="0">
                <a:latin typeface="+mn-lt"/>
              </a:rPr>
              <a:t>(e.g., granite-3.3-8b-instruct)</a:t>
            </a:r>
            <a:r>
              <a:rPr lang="en-IN" sz="1600" dirty="0">
                <a:latin typeface="+mn-lt"/>
              </a:rPr>
              <a:t> – Used for </a:t>
            </a:r>
            <a:r>
              <a:rPr lang="en-IN" sz="1600" b="1" dirty="0">
                <a:latin typeface="+mn-lt"/>
              </a:rPr>
              <a:t>natural language understanding, empathetic conversations, reasoning, summarization, emotion analysis, and personalized mental health recommendations</a:t>
            </a:r>
            <a:r>
              <a:rPr lang="en-IN" sz="1600" dirty="0">
                <a:latin typeface="+mn-lt"/>
              </a:rPr>
              <a:t>. </a:t>
            </a:r>
          </a:p>
          <a:p>
            <a:pPr algn="just">
              <a:buFont typeface="Arial" panose="020B0604020202020204" pitchFamily="34" charset="0"/>
              <a:buChar char="•"/>
            </a:pPr>
            <a:r>
              <a:rPr lang="en-IN" sz="1600" b="1" dirty="0">
                <a:latin typeface="+mn-lt"/>
              </a:rPr>
              <a:t>IBM watsonx.ai</a:t>
            </a:r>
            <a:r>
              <a:rPr lang="en-IN" sz="1600" dirty="0">
                <a:latin typeface="+mn-lt"/>
              </a:rPr>
              <a:t> – Provides </a:t>
            </a:r>
            <a:r>
              <a:rPr lang="en-IN" sz="1600" b="1" dirty="0">
                <a:latin typeface="+mn-lt"/>
              </a:rPr>
              <a:t>AI model deployment, prompt engineering, embeddings, AI governance, and scalable model management</a:t>
            </a:r>
            <a:r>
              <a:rPr lang="en-IN" sz="1600" dirty="0">
                <a:latin typeface="+mn-lt"/>
              </a:rPr>
              <a:t> for secure and responsible AI-powered mental health assistance. </a:t>
            </a:r>
          </a:p>
          <a:p>
            <a:pPr algn="just">
              <a:buFont typeface="Arial" panose="020B0604020202020204" pitchFamily="34" charset="0"/>
              <a:buChar char="•"/>
            </a:pPr>
            <a:r>
              <a:rPr lang="en-IN" sz="1600" b="1" dirty="0">
                <a:latin typeface="+mn-lt"/>
              </a:rPr>
              <a:t>Retrieval-Augmented Generation (RAG)</a:t>
            </a:r>
            <a:r>
              <a:rPr lang="en-IN" sz="1600" dirty="0">
                <a:latin typeface="+mn-lt"/>
              </a:rPr>
              <a:t> – Retrieves </a:t>
            </a:r>
            <a:r>
              <a:rPr lang="en-IN" sz="1600" b="1" dirty="0">
                <a:latin typeface="+mn-lt"/>
              </a:rPr>
              <a:t>trusted mental health information</a:t>
            </a:r>
            <a:r>
              <a:rPr lang="en-IN" sz="1600" dirty="0">
                <a:latin typeface="+mn-lt"/>
              </a:rPr>
              <a:t> from verified resources before generating responses, ensuring </a:t>
            </a:r>
            <a:r>
              <a:rPr lang="en-IN" sz="1600" b="1" dirty="0">
                <a:latin typeface="+mn-lt"/>
              </a:rPr>
              <a:t>accurate, reliable, and context-aware guidance</a:t>
            </a:r>
            <a:r>
              <a:rPr lang="en-IN" sz="1600" dirty="0">
                <a:latin typeface="+mn-lt"/>
              </a:rPr>
              <a:t>. </a:t>
            </a:r>
          </a:p>
          <a:p>
            <a:pPr algn="just">
              <a:buFont typeface="Arial" panose="020B0604020202020204" pitchFamily="34" charset="0"/>
              <a:buChar char="•"/>
            </a:pPr>
            <a:r>
              <a:rPr lang="en-IN" sz="1600" b="1" dirty="0">
                <a:latin typeface="+mn-lt"/>
              </a:rPr>
              <a:t>Vector Database (</a:t>
            </a:r>
            <a:r>
              <a:rPr lang="en-IN" sz="1600" b="1" dirty="0" err="1">
                <a:latin typeface="+mn-lt"/>
              </a:rPr>
              <a:t>ChromaDB</a:t>
            </a:r>
            <a:r>
              <a:rPr lang="en-IN" sz="1600" b="1" dirty="0">
                <a:latin typeface="+mn-lt"/>
              </a:rPr>
              <a:t> / FAISS)</a:t>
            </a:r>
            <a:r>
              <a:rPr lang="en-IN" sz="1600" dirty="0">
                <a:latin typeface="+mn-lt"/>
              </a:rPr>
              <a:t> – Stores document embeddings for </a:t>
            </a:r>
            <a:r>
              <a:rPr lang="en-IN" sz="1600" b="1" dirty="0">
                <a:latin typeface="+mn-lt"/>
              </a:rPr>
              <a:t>fast semantic search and efficient retrieval</a:t>
            </a:r>
            <a:r>
              <a:rPr lang="en-IN" sz="1600" dirty="0">
                <a:latin typeface="+mn-lt"/>
              </a:rPr>
              <a:t> of mental health articles, coping strategies, and wellness resources. </a:t>
            </a:r>
          </a:p>
          <a:p>
            <a:pPr algn="just">
              <a:buFont typeface="Arial" panose="020B0604020202020204" pitchFamily="34" charset="0"/>
              <a:buChar char="•"/>
            </a:pPr>
            <a:r>
              <a:rPr lang="en-IN" sz="1600" b="1" dirty="0">
                <a:latin typeface="+mn-lt"/>
              </a:rPr>
              <a:t>Spring Boot</a:t>
            </a:r>
            <a:r>
              <a:rPr lang="en-IN" sz="1600" dirty="0">
                <a:latin typeface="+mn-lt"/>
              </a:rPr>
              <a:t> – Used to build </a:t>
            </a:r>
            <a:r>
              <a:rPr lang="en-IN" sz="1600" b="1" dirty="0">
                <a:latin typeface="+mn-lt"/>
              </a:rPr>
              <a:t>secure RESTful APIs</a:t>
            </a:r>
            <a:r>
              <a:rPr lang="en-IN" sz="1600" dirty="0">
                <a:latin typeface="+mn-lt"/>
              </a:rPr>
              <a:t>, implement business logic, integrate AI services, and provide </a:t>
            </a:r>
            <a:r>
              <a:rPr lang="en-IN" sz="1600" b="1" dirty="0">
                <a:latin typeface="+mn-lt"/>
              </a:rPr>
              <a:t>JWT-based authentication</a:t>
            </a:r>
            <a:r>
              <a:rPr lang="en-IN" sz="1600" dirty="0">
                <a:latin typeface="+mn-lt"/>
              </a:rPr>
              <a:t> for the application. </a:t>
            </a:r>
          </a:p>
          <a:p>
            <a:pPr algn="just">
              <a:buFont typeface="Arial" panose="020B0604020202020204" pitchFamily="34" charset="0"/>
              <a:buChar char="•"/>
            </a:pPr>
            <a:r>
              <a:rPr lang="en-IN" sz="1600" b="1" dirty="0">
                <a:latin typeface="+mn-lt"/>
              </a:rPr>
              <a:t>React.js &amp; Tailwind CSS</a:t>
            </a:r>
            <a:r>
              <a:rPr lang="en-IN" sz="1600" dirty="0">
                <a:latin typeface="+mn-lt"/>
              </a:rPr>
              <a:t> – Used to develop a </a:t>
            </a:r>
            <a:r>
              <a:rPr lang="en-IN" sz="1600" b="1" dirty="0">
                <a:latin typeface="+mn-lt"/>
              </a:rPr>
              <a:t>modern, responsive, and interactive user interface</a:t>
            </a:r>
            <a:r>
              <a:rPr lang="en-IN" sz="1600" dirty="0">
                <a:latin typeface="+mn-lt"/>
              </a:rPr>
              <a:t>, including the dashboard, AI chat, mood tracker, journaling, and wellness analytics. </a:t>
            </a:r>
          </a:p>
          <a:p>
            <a:pPr algn="just">
              <a:buFont typeface="Arial" panose="020B0604020202020204" pitchFamily="34" charset="0"/>
              <a:buChar char="•"/>
            </a:pPr>
            <a:r>
              <a:rPr lang="en-IN" sz="1600" b="1" dirty="0">
                <a:latin typeface="+mn-lt"/>
              </a:rPr>
              <a:t>MySQL Database</a:t>
            </a:r>
            <a:r>
              <a:rPr lang="en-IN" sz="1600" dirty="0">
                <a:latin typeface="+mn-lt"/>
              </a:rPr>
              <a:t> – Stores </a:t>
            </a:r>
            <a:r>
              <a:rPr lang="en-IN" sz="1600" b="1" dirty="0">
                <a:latin typeface="+mn-lt"/>
              </a:rPr>
              <a:t>user profiles, mood history, journal entries, chat history, assessments, emergency contacts, and wellness analytics</a:t>
            </a:r>
            <a:r>
              <a:rPr lang="en-IN" sz="1600" dirty="0">
                <a:latin typeface="+mn-lt"/>
              </a:rPr>
              <a:t> in a secure and structured manner. </a:t>
            </a:r>
          </a:p>
          <a:p>
            <a:pPr algn="just">
              <a:buFont typeface="Arial" panose="020B0604020202020204" pitchFamily="34" charset="0"/>
              <a:buChar char="•"/>
            </a:pPr>
            <a:r>
              <a:rPr lang="en-IN" sz="1600" b="1" dirty="0">
                <a:latin typeface="+mn-lt"/>
              </a:rPr>
              <a:t>JWT &amp; Spring Security</a:t>
            </a:r>
            <a:r>
              <a:rPr lang="en-IN" sz="1600" dirty="0">
                <a:latin typeface="+mn-lt"/>
              </a:rPr>
              <a:t> – Ensures </a:t>
            </a:r>
            <a:r>
              <a:rPr lang="en-IN" sz="1600" b="1" dirty="0">
                <a:latin typeface="+mn-lt"/>
              </a:rPr>
              <a:t>secure user authentication, role-based authorization, password encryption, and protected API access</a:t>
            </a:r>
            <a:r>
              <a:rPr lang="en-IN" sz="1600" dirty="0">
                <a:latin typeface="+mn-lt"/>
              </a:rPr>
              <a:t>. </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49534073-F9F3-432A-B3AE-A6800164A35A}"/>
              </a:ext>
            </a:extLst>
          </p:cNvPr>
          <p:cNvPicPr>
            <a:picLocks noChangeAspect="1"/>
          </p:cNvPicPr>
          <p:nvPr/>
        </p:nvPicPr>
        <p:blipFill>
          <a:blip r:embed="rId3"/>
          <a:stretch>
            <a:fillRect/>
          </a:stretch>
        </p:blipFill>
        <p:spPr>
          <a:xfrm>
            <a:off x="3289737" y="1765738"/>
            <a:ext cx="8427441" cy="4927400"/>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4" name="Picture 3">
            <a:extLst>
              <a:ext uri="{FF2B5EF4-FFF2-40B4-BE49-F238E27FC236}">
                <a16:creationId xmlns:a16="http://schemas.microsoft.com/office/drawing/2014/main" id="{141AC7A9-8A8D-4851-B877-4B8D338B8E88}"/>
              </a:ext>
            </a:extLst>
          </p:cNvPr>
          <p:cNvPicPr>
            <a:picLocks noChangeAspect="1"/>
          </p:cNvPicPr>
          <p:nvPr/>
        </p:nvPicPr>
        <p:blipFill>
          <a:blip r:embed="rId3"/>
          <a:stretch>
            <a:fillRect/>
          </a:stretch>
        </p:blipFill>
        <p:spPr>
          <a:xfrm>
            <a:off x="956441" y="977462"/>
            <a:ext cx="10531367" cy="5661628"/>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tretch>
            <a:fillRect/>
          </a:stretch>
        </p:blipFill>
        <p:spPr>
          <a:xfrm>
            <a:off x="157335" y="316463"/>
            <a:ext cx="11145396"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23220"/>
          </a:xfrm>
          <a:prstGeom prst="rect">
            <a:avLst/>
          </a:prstGeom>
          <a:noFill/>
        </p:spPr>
        <p:txBody>
          <a:bodyPr wrap="square" rtlCol="0">
            <a:spAutoFit/>
          </a:bodyPr>
          <a:lstStyle/>
          <a:p>
            <a:r>
              <a:rPr lang="en-US" sz="2800" b="1" dirty="0"/>
              <a:t>Role of Agentic AI in the solution </a:t>
            </a:r>
            <a:endParaRPr lang="en-IN" sz="28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220889"/>
            <a:ext cx="7406640" cy="5262979"/>
          </a:xfrm>
          <a:prstGeom prst="rect">
            <a:avLst/>
          </a:prstGeom>
          <a:noFill/>
        </p:spPr>
        <p:txBody>
          <a:bodyPr wrap="square" rtlCol="0">
            <a:spAutoFit/>
          </a:bodyPr>
          <a:lstStyle/>
          <a:p>
            <a:r>
              <a:rPr lang="en-US" sz="1600" b="1" dirty="0"/>
              <a:t>Role of Agentic AI in Mental Health Awareness &amp; Suicide Prevention</a:t>
            </a:r>
          </a:p>
          <a:p>
            <a:r>
              <a:rPr lang="en-US" sz="1600" b="1" dirty="0"/>
              <a:t>Agentic AI</a:t>
            </a:r>
            <a:r>
              <a:rPr lang="en-US" sz="1600" dirty="0"/>
              <a:t> enables the </a:t>
            </a:r>
            <a:r>
              <a:rPr lang="en-US" sz="1600" b="1" dirty="0"/>
              <a:t>AI-Powered Mental Health Companion</a:t>
            </a:r>
            <a:r>
              <a:rPr lang="en-US" sz="1600" dirty="0"/>
              <a:t> to function as an intelligent, proactive, and context-aware system rather than a traditional chatbot. By leveraging </a:t>
            </a:r>
            <a:r>
              <a:rPr lang="en-US" sz="1600" b="1" dirty="0"/>
              <a:t>IBM watsonx.ai, IBM Granite Models, IBM </a:t>
            </a:r>
            <a:r>
              <a:rPr lang="en-US" sz="1600" b="1" dirty="0" err="1"/>
              <a:t>Langflow</a:t>
            </a:r>
            <a:r>
              <a:rPr lang="en-US" sz="1600" b="1" dirty="0"/>
              <a:t>/IBM Orchestrate, and Retrieval-Augmented Generation (RAG)</a:t>
            </a:r>
            <a:r>
              <a:rPr lang="en-US" sz="1600" dirty="0"/>
              <a:t>, the platform coordinates multiple specialized AI agents to deliver personalized mental wellness support.</a:t>
            </a:r>
          </a:p>
          <a:p>
            <a:r>
              <a:rPr lang="en-US" sz="1600" dirty="0"/>
              <a:t>Each AI agent performs a dedicated responsibility while collaborating with other agents to provide comprehensive assistance. The </a:t>
            </a:r>
            <a:r>
              <a:rPr lang="en-US" sz="1600" b="1" dirty="0"/>
              <a:t>Emotion Detection Agent</a:t>
            </a:r>
            <a:r>
              <a:rPr lang="en-US" sz="1600" dirty="0"/>
              <a:t> analyzes conversations, mood logs, and journal entries to identify emotions such as stress, anxiety, sadness, or happiness. The </a:t>
            </a:r>
            <a:r>
              <a:rPr lang="en-US" sz="1600" b="1" dirty="0"/>
              <a:t>Mental Health Assessment Agent</a:t>
            </a:r>
            <a:r>
              <a:rPr lang="en-US" sz="1600" dirty="0"/>
              <a:t> evaluates emotional patterns and wellness history to detect early signs of mental health concerns.</a:t>
            </a:r>
          </a:p>
          <a:p>
            <a:r>
              <a:rPr lang="en-US" sz="1600" dirty="0"/>
              <a:t>The </a:t>
            </a:r>
            <a:r>
              <a:rPr lang="en-US" sz="1600" b="1" dirty="0"/>
              <a:t>Personalized Recommendation Agent</a:t>
            </a:r>
            <a:r>
              <a:rPr lang="en-US" sz="1600" dirty="0"/>
              <a:t> generates tailored coping strategies, breathing exercises, meditation sessions, self-care activities, motivational content, and educational resources based on the user's emotional condition. The </a:t>
            </a:r>
            <a:r>
              <a:rPr lang="en-US" sz="1600" b="1" dirty="0"/>
              <a:t>Risk Detection &amp; Prevention Agent</a:t>
            </a:r>
            <a:r>
              <a:rPr lang="en-US" sz="1600" dirty="0"/>
              <a:t> continuously monitors conversations for high-risk emotional patterns and, when necessary, provides crisis guidance while encouraging users to seek trusted human or professional support.</a:t>
            </a:r>
          </a:p>
          <a:p>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5" name="Picture 4">
            <a:extLst>
              <a:ext uri="{FF2B5EF4-FFF2-40B4-BE49-F238E27FC236}">
                <a16:creationId xmlns:a16="http://schemas.microsoft.com/office/drawing/2014/main" id="{6CE23067-9CA4-4238-AC21-00A159D3FD1E}"/>
              </a:ext>
            </a:extLst>
          </p:cNvPr>
          <p:cNvPicPr>
            <a:picLocks noChangeAspect="1"/>
          </p:cNvPicPr>
          <p:nvPr/>
        </p:nvPicPr>
        <p:blipFill>
          <a:blip r:embed="rId3"/>
          <a:stretch>
            <a:fillRect/>
          </a:stretch>
        </p:blipFill>
        <p:spPr>
          <a:xfrm>
            <a:off x="483477" y="693683"/>
            <a:ext cx="10962290" cy="5911806"/>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4" name="Picture 3">
            <a:extLst>
              <a:ext uri="{FF2B5EF4-FFF2-40B4-BE49-F238E27FC236}">
                <a16:creationId xmlns:a16="http://schemas.microsoft.com/office/drawing/2014/main" id="{237DDC29-6A74-4B1D-AB20-CF553CF33379}"/>
              </a:ext>
            </a:extLst>
          </p:cNvPr>
          <p:cNvPicPr>
            <a:picLocks noChangeAspect="1"/>
          </p:cNvPicPr>
          <p:nvPr/>
        </p:nvPicPr>
        <p:blipFill>
          <a:blip r:embed="rId3"/>
          <a:stretch>
            <a:fillRect/>
          </a:stretch>
        </p:blipFill>
        <p:spPr>
          <a:xfrm>
            <a:off x="809297" y="714703"/>
            <a:ext cx="10710041" cy="5801711"/>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5" name="Picture 4">
            <a:extLst>
              <a:ext uri="{FF2B5EF4-FFF2-40B4-BE49-F238E27FC236}">
                <a16:creationId xmlns:a16="http://schemas.microsoft.com/office/drawing/2014/main" id="{270E39FD-FF60-4AEA-8BB0-C3671E1A18BE}"/>
              </a:ext>
            </a:extLst>
          </p:cNvPr>
          <p:cNvPicPr>
            <a:picLocks noChangeAspect="1"/>
          </p:cNvPicPr>
          <p:nvPr/>
        </p:nvPicPr>
        <p:blipFill>
          <a:blip r:embed="rId3"/>
          <a:stretch>
            <a:fillRect/>
          </a:stretch>
        </p:blipFill>
        <p:spPr>
          <a:xfrm>
            <a:off x="732446" y="816977"/>
            <a:ext cx="10727107" cy="5676637"/>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12" name="Rectangle 9">
            <a:extLst>
              <a:ext uri="{FF2B5EF4-FFF2-40B4-BE49-F238E27FC236}">
                <a16:creationId xmlns:a16="http://schemas.microsoft.com/office/drawing/2014/main" id="{C35BACD9-212A-46DA-A354-52067EB07CF9}"/>
              </a:ext>
            </a:extLst>
          </p:cNvPr>
          <p:cNvSpPr>
            <a:spLocks noChangeArrowheads="1"/>
          </p:cNvSpPr>
          <p:nvPr/>
        </p:nvSpPr>
        <p:spPr bwMode="auto">
          <a:xfrm>
            <a:off x="736250" y="1074490"/>
            <a:ext cx="10678510"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1" i="0" u="none" strike="noStrike" cap="none" normalizeH="0" baseline="0" dirty="0" err="1">
                <a:ln>
                  <a:noFill/>
                </a:ln>
                <a:solidFill>
                  <a:schemeClr val="tx1"/>
                </a:solidFill>
                <a:effectLst/>
                <a:latin typeface="Arial" panose="020B0604020202020204" pitchFamily="34" charset="0"/>
              </a:rPr>
              <a:t>MindMate</a:t>
            </a:r>
            <a:r>
              <a:rPr kumimoji="0" lang="en-US" altLang="en-US" sz="1600" b="1" i="0" u="none" strike="noStrike" cap="none" normalizeH="0" baseline="0" dirty="0">
                <a:ln>
                  <a:noFill/>
                </a:ln>
                <a:solidFill>
                  <a:schemeClr val="tx1"/>
                </a:solidFill>
                <a:effectLst/>
                <a:latin typeface="Arial" panose="020B0604020202020204" pitchFamily="34" charset="0"/>
              </a:rPr>
              <a:t> – Agentic AI for Mental Health Awareness &amp; Suicide Prevention</a:t>
            </a:r>
            <a:r>
              <a:rPr kumimoji="0" lang="en-US" altLang="en-US" sz="1600" b="0" i="0" u="none" strike="noStrike" cap="none" normalizeH="0" baseline="0" dirty="0">
                <a:ln>
                  <a:noFill/>
                </a:ln>
                <a:solidFill>
                  <a:schemeClr val="tx1"/>
                </a:solidFill>
                <a:effectLst/>
                <a:latin typeface="Arial" panose="020B0604020202020204" pitchFamily="34" charset="0"/>
              </a:rPr>
              <a:t> platform stands out by combining </a:t>
            </a:r>
            <a:r>
              <a:rPr kumimoji="0" lang="en-US" altLang="en-US" sz="1600" b="1" i="0" u="none" strike="noStrike" cap="none" normalizeH="0" baseline="0" dirty="0">
                <a:ln>
                  <a:noFill/>
                </a:ln>
                <a:solidFill>
                  <a:schemeClr val="tx1"/>
                </a:solidFill>
                <a:effectLst/>
                <a:latin typeface="Arial" panose="020B0604020202020204" pitchFamily="34" charset="0"/>
              </a:rPr>
              <a:t>Agentic AI, Retrieval-Augmented Generation (RAG), Emotion Detection, and Personalized Mental Wellness Support</a:t>
            </a:r>
            <a:r>
              <a:rPr kumimoji="0" lang="en-US" altLang="en-US" sz="1600" b="0" i="0" u="none" strike="noStrike" cap="none" normalizeH="0" baseline="0" dirty="0">
                <a:ln>
                  <a:noFill/>
                </a:ln>
                <a:solidFill>
                  <a:schemeClr val="tx1"/>
                </a:solidFill>
                <a:effectLst/>
                <a:latin typeface="Arial" panose="020B0604020202020204" pitchFamily="34" charset="0"/>
              </a:rPr>
              <a:t> into a single intelligent system.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Multi-Agent Intelligence</a:t>
            </a:r>
            <a:r>
              <a:rPr kumimoji="0" lang="en-US" altLang="en-US" sz="1600" b="0" i="0" u="none" strike="noStrike" cap="none" normalizeH="0" baseline="0" dirty="0">
                <a:ln>
                  <a:noFill/>
                </a:ln>
                <a:solidFill>
                  <a:schemeClr val="tx1"/>
                </a:solidFill>
                <a:effectLst/>
                <a:latin typeface="Arial" panose="020B0604020202020204" pitchFamily="34" charset="0"/>
              </a:rPr>
              <a:t> – Instead of relying on a single chatbot, multiple specialized AI agents collaborate to analyze emotions, assess mental health, detect risks, generate personalized recommendations, and provide proactive support.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RAG-Based Trusted Responses</a:t>
            </a:r>
            <a:r>
              <a:rPr kumimoji="0" lang="en-US" altLang="en-US" sz="1600" b="0" i="0" u="none" strike="noStrike" cap="none" normalizeH="0" baseline="0" dirty="0">
                <a:ln>
                  <a:noFill/>
                </a:ln>
                <a:solidFill>
                  <a:schemeClr val="tx1"/>
                </a:solidFill>
                <a:effectLst/>
                <a:latin typeface="Arial" panose="020B0604020202020204" pitchFamily="34" charset="0"/>
              </a:rPr>
              <a:t> – Integrates real-time retrieval of verified mental health resources before generating responses, reducing misinformation and ensuring accurate, reliable, and evidence-based guidance.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Hyper-Personalization</a:t>
            </a:r>
            <a:r>
              <a:rPr kumimoji="0" lang="en-US" altLang="en-US" sz="1600" b="0" i="0" u="none" strike="noStrike" cap="none" normalizeH="0" baseline="0" dirty="0">
                <a:ln>
                  <a:noFill/>
                </a:ln>
                <a:solidFill>
                  <a:schemeClr val="tx1"/>
                </a:solidFill>
                <a:effectLst/>
                <a:latin typeface="Arial" panose="020B0604020202020204" pitchFamily="34" charset="0"/>
              </a:rPr>
              <a:t> – Delivers personalized wellness plans, meditation sessions, breathing exercises, self-care activities, and educational content based on the user's mood history, journal entries, emotional patterns, and previous interactions.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Continuous Mood &amp; Wellness Tracking</a:t>
            </a:r>
            <a:r>
              <a:rPr kumimoji="0" lang="en-US" altLang="en-US" sz="1600" b="0" i="0" u="none" strike="noStrike" cap="none" normalizeH="0" baseline="0" dirty="0">
                <a:ln>
                  <a:noFill/>
                </a:ln>
                <a:solidFill>
                  <a:schemeClr val="tx1"/>
                </a:solidFill>
                <a:effectLst/>
                <a:latin typeface="Arial" panose="020B0604020202020204" pitchFamily="34" charset="0"/>
              </a:rPr>
              <a:t> – Maintains daily mood logs, journals, wellness scores, and emotional trends to provide meaningful insights and long-term progress monitoring.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Proactive Risk Detection &amp; Early Intervention</a:t>
            </a:r>
            <a:r>
              <a:rPr kumimoji="0" lang="en-US" altLang="en-US" sz="1600" b="0" i="0" u="none" strike="noStrike" cap="none" normalizeH="0" baseline="0" dirty="0">
                <a:ln>
                  <a:noFill/>
                </a:ln>
                <a:solidFill>
                  <a:schemeClr val="tx1"/>
                </a:solidFill>
                <a:effectLst/>
                <a:latin typeface="Arial" panose="020B0604020202020204" pitchFamily="34" charset="0"/>
              </a:rPr>
              <a:t> – Continuously analyzes conversations and behavioral patterns to identify signs of emotional distress or potential mental health risks, enabling timely support and encouraging users to connect with trusted people or professional mental health services when appropriate.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7964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  :</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1313464"/>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IN" sz="2800" dirty="0">
                <a:effectLst/>
              </a:rPr>
              <a:t>https://github.com/Khushig12/MindMate-AI</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83095"/>
            <a:ext cx="9214580" cy="4277001"/>
          </a:xfrm>
          <a:prstGeom prst="rect">
            <a:avLst/>
          </a:prstGeom>
          <a:noFill/>
          <a:ln>
            <a:noFill/>
          </a:ln>
        </p:spPr>
        <p:txBody>
          <a:bodyPr spcFirstLastPara="1" wrap="square" lIns="0" tIns="0" rIns="0" bIns="0" anchor="t" anchorCtr="0">
            <a:noAutofit/>
          </a:bodyPr>
          <a:lstStyle/>
          <a:p>
            <a:r>
              <a:rPr lang="en-US" sz="1600" b="1" dirty="0"/>
              <a:t>1. Integration with Wearables &amp; Health Devices –</a:t>
            </a:r>
          </a:p>
          <a:p>
            <a:r>
              <a:rPr lang="en-US" sz="1600" dirty="0"/>
              <a:t>The platform can be integrated with </a:t>
            </a:r>
            <a:r>
              <a:rPr lang="en-US" sz="1600" b="1" dirty="0"/>
              <a:t>smartwatches and fitness trackers</a:t>
            </a:r>
            <a:r>
              <a:rPr lang="en-US" sz="1600" dirty="0"/>
              <a:t> to collect real-time health data such as </a:t>
            </a:r>
            <a:r>
              <a:rPr lang="en-US" sz="1600" b="1" dirty="0"/>
              <a:t>heart rate, sleep patterns, physical activity, and stress levels</a:t>
            </a:r>
            <a:r>
              <a:rPr lang="en-US" sz="1600" dirty="0"/>
              <a:t>. This will enable the AI to monitor users continuously and provide more accurate mental wellness insights, personalized recommendations, and early detection of emotional distress.</a:t>
            </a:r>
          </a:p>
          <a:p>
            <a:endParaRPr lang="en-US" sz="1600" dirty="0"/>
          </a:p>
          <a:p>
            <a:r>
              <a:rPr lang="en-US" sz="1600" b="1" dirty="0"/>
              <a:t>2. AI-Powered Voice Assistant &amp; Multilingual Support –</a:t>
            </a:r>
          </a:p>
          <a:p>
            <a:r>
              <a:rPr lang="en-US" sz="1600" dirty="0"/>
              <a:t>The system can be enhanced with a </a:t>
            </a:r>
            <a:r>
              <a:rPr lang="en-US" sz="1600" b="1" dirty="0"/>
              <a:t>voice-enabled AI companion</a:t>
            </a:r>
            <a:r>
              <a:rPr lang="en-US" sz="1600" dirty="0"/>
              <a:t> and support for </a:t>
            </a:r>
            <a:r>
              <a:rPr lang="en-US" sz="1600" b="1" dirty="0"/>
              <a:t>multiple regional and international languages</a:t>
            </a:r>
            <a:r>
              <a:rPr lang="en-US" sz="1600" dirty="0"/>
              <a:t>. This will improve accessibility, allowing users to interact naturally in their preferred language and making the platform more inclusive for diverse communities.</a:t>
            </a:r>
          </a:p>
          <a:p>
            <a:endParaRPr lang="en-US" sz="1600" dirty="0"/>
          </a:p>
          <a:p>
            <a:r>
              <a:rPr lang="en-US" sz="1600" b="1" dirty="0"/>
              <a:t>3. Predictive Mental Health Analytics –</a:t>
            </a:r>
          </a:p>
          <a:p>
            <a:r>
              <a:rPr lang="en-US" sz="1600" dirty="0"/>
              <a:t>Future versions can leverage advanced AI models to analyze long-term mood patterns, journal entries, and behavioral trends to </a:t>
            </a:r>
            <a:r>
              <a:rPr lang="en-US" sz="1600" b="1" dirty="0"/>
              <a:t>predict potential mental health risks</a:t>
            </a:r>
            <a:r>
              <a:rPr lang="en-US" sz="1600" dirty="0"/>
              <a:t>. This will support proactive interventions and encourage users to seek help before conditions become severe.</a:t>
            </a:r>
          </a:p>
          <a:p>
            <a:endParaRPr lang="en-US" sz="1600" dirty="0"/>
          </a:p>
          <a:p>
            <a:r>
              <a:rPr lang="en-US" sz="1600" b="1" dirty="0"/>
              <a:t>4.Teletherapy &amp; Professional Support Integration –</a:t>
            </a:r>
          </a:p>
          <a:p>
            <a:r>
              <a:rPr lang="en-US" sz="1600" dirty="0"/>
              <a:t>The platform can integrate with </a:t>
            </a:r>
            <a:r>
              <a:rPr lang="en-US" sz="1600" b="1" dirty="0"/>
              <a:t>licensed psychologists, counselors, hospitals, and telemedicine services</a:t>
            </a:r>
            <a:r>
              <a:rPr lang="en-US" sz="1600" dirty="0"/>
              <a:t>, enabling users to schedule appointments, access online therapy sessions, and receive professional mental health support directly through the application.</a:t>
            </a:r>
          </a:p>
          <a:p>
            <a:endParaRPr lang="en-US" sz="1600" dirty="0"/>
          </a:p>
          <a:p>
            <a:endParaRPr lang="en-US" sz="1600" b="1" dirty="0"/>
          </a:p>
          <a:p>
            <a:endParaRPr lang="en-US" sz="1600" b="1" dirty="0"/>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90882" y="12953"/>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sp>
        <p:nvSpPr>
          <p:cNvPr id="3" name="TextBox 2">
            <a:extLst>
              <a:ext uri="{FF2B5EF4-FFF2-40B4-BE49-F238E27FC236}">
                <a16:creationId xmlns:a16="http://schemas.microsoft.com/office/drawing/2014/main" id="{4837D5EE-379B-FDC5-0854-8AC81D31FADF}"/>
              </a:ext>
            </a:extLst>
          </p:cNvPr>
          <p:cNvSpPr txBox="1"/>
          <p:nvPr/>
        </p:nvSpPr>
        <p:spPr>
          <a:xfrm>
            <a:off x="408115" y="503794"/>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Please  add your </a:t>
            </a:r>
            <a:r>
              <a:rPr lang="en-US" sz="2800" b="1" dirty="0" err="1"/>
              <a:t>credly</a:t>
            </a:r>
            <a:r>
              <a:rPr lang="en-US" sz="2800" b="1" dirty="0"/>
              <a:t> certificate </a:t>
            </a:r>
          </a:p>
        </p:txBody>
      </p:sp>
      <p:pic>
        <p:nvPicPr>
          <p:cNvPr id="4" name="Picture 3">
            <a:extLst>
              <a:ext uri="{FF2B5EF4-FFF2-40B4-BE49-F238E27FC236}">
                <a16:creationId xmlns:a16="http://schemas.microsoft.com/office/drawing/2014/main" id="{9D875381-BFBF-4FA6-8357-50D06B8897EB}"/>
              </a:ext>
            </a:extLst>
          </p:cNvPr>
          <p:cNvPicPr>
            <a:picLocks noChangeAspect="1"/>
          </p:cNvPicPr>
          <p:nvPr/>
        </p:nvPicPr>
        <p:blipFill>
          <a:blip r:embed="rId2"/>
          <a:stretch>
            <a:fillRect/>
          </a:stretch>
        </p:blipFill>
        <p:spPr>
          <a:xfrm>
            <a:off x="1797271" y="1185980"/>
            <a:ext cx="7824146" cy="5382986"/>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1C1B7867-A729-466A-B511-90B5E739C3FB}"/>
              </a:ext>
            </a:extLst>
          </p:cNvPr>
          <p:cNvPicPr>
            <a:picLocks noChangeAspect="1"/>
          </p:cNvPicPr>
          <p:nvPr/>
        </p:nvPicPr>
        <p:blipFill>
          <a:blip r:embed="rId2"/>
          <a:stretch>
            <a:fillRect/>
          </a:stretch>
        </p:blipFill>
        <p:spPr>
          <a:xfrm>
            <a:off x="1949237" y="1082566"/>
            <a:ext cx="8445494" cy="5139558"/>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623</TotalTime>
  <Words>1654</Words>
  <Application>Microsoft Office PowerPoint</Application>
  <PresentationFormat>Widescreen</PresentationFormat>
  <Paragraphs>118</Paragraphs>
  <Slides>18</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Symbol</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CHIRAG MAHAJAN</cp:lastModifiedBy>
  <cp:revision>17</cp:revision>
  <dcterms:created xsi:type="dcterms:W3CDTF">2025-07-08T05:06:56Z</dcterms:created>
  <dcterms:modified xsi:type="dcterms:W3CDTF">2026-07-22T17:51:53Z</dcterms:modified>
</cp:coreProperties>
</file>